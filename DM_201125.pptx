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8" r:id="rId3"/>
    <p:sldId id="263" r:id="rId4"/>
    <p:sldId id="270" r:id="rId5"/>
    <p:sldId id="271" r:id="rId6"/>
    <p:sldId id="256" r:id="rId7"/>
    <p:sldId id="257" r:id="rId8"/>
    <p:sldId id="259" r:id="rId9"/>
    <p:sldId id="260" r:id="rId10"/>
    <p:sldId id="261" r:id="rId11"/>
    <p:sldId id="262" r:id="rId12"/>
    <p:sldId id="265" r:id="rId13"/>
    <p:sldId id="264" r:id="rId14"/>
    <p:sldId id="266" r:id="rId15"/>
    <p:sldId id="267" r:id="rId16"/>
    <p:sldId id="269" r:id="rId1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 showGuides="1">
      <p:cViewPr varScale="1">
        <p:scale>
          <a:sx n="131" d="100"/>
          <a:sy n="131" d="100"/>
        </p:scale>
        <p:origin x="1312" y="1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8864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8005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77370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600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7791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0033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8406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2883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3773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8519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2953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9306C-679A-664D-8A77-810B1B0B8A9E}" type="datetimeFigureOut">
              <a:rPr lang="en-ES" smtClean="0"/>
              <a:t>21/11/25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CE0E5-88FE-2B4C-BC3D-9F30A49C8FD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8532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188B8-F29E-0594-636B-51E2837F0259}"/>
              </a:ext>
            </a:extLst>
          </p:cNvPr>
          <p:cNvSpPr txBox="1"/>
          <p:nvPr/>
        </p:nvSpPr>
        <p:spPr>
          <a:xfrm>
            <a:off x="1508598" y="2673192"/>
            <a:ext cx="68888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dirty="0"/>
              <a:t>Data Meeting </a:t>
            </a:r>
            <a:br>
              <a:rPr lang="en-ES" dirty="0"/>
            </a:br>
            <a:r>
              <a:rPr lang="en-ES" dirty="0"/>
              <a:t>21 November, 2025</a:t>
            </a:r>
          </a:p>
          <a:p>
            <a:pPr algn="ctr"/>
            <a:endParaRPr lang="en-ES" dirty="0"/>
          </a:p>
          <a:p>
            <a:pPr algn="ctr"/>
            <a:r>
              <a:rPr lang="en-GB" sz="2400" b="1" dirty="0"/>
              <a:t>Geometry-Driven Strand Bias at Replication Origins</a:t>
            </a:r>
            <a:endParaRPr lang="en-ES" sz="2400" b="1" dirty="0"/>
          </a:p>
        </p:txBody>
      </p:sp>
    </p:spTree>
    <p:extLst>
      <p:ext uri="{BB962C8B-B14F-4D97-AF65-F5344CB8AC3E}">
        <p14:creationId xmlns:p14="http://schemas.microsoft.com/office/powerpoint/2010/main" val="273208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27EB60-64EF-9EAC-FA24-756EE0342761}"/>
              </a:ext>
            </a:extLst>
          </p:cNvPr>
          <p:cNvSpPr txBox="1"/>
          <p:nvPr/>
        </p:nvSpPr>
        <p:spPr>
          <a:xfrm>
            <a:off x="2480552" y="561861"/>
            <a:ext cx="523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Pol2 eSPAN – average read enrichments at origins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A38A0-90C4-F3DE-61D8-36FBB6030F99}"/>
              </a:ext>
            </a:extLst>
          </p:cNvPr>
          <p:cNvSpPr txBox="1"/>
          <p:nvPr/>
        </p:nvSpPr>
        <p:spPr>
          <a:xfrm>
            <a:off x="891702" y="1356680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5’ end of mate1… 5’ end of the fragment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BDD2B-51C8-9600-9207-3271250410F9}"/>
              </a:ext>
            </a:extLst>
          </p:cNvPr>
          <p:cNvSpPr txBox="1"/>
          <p:nvPr/>
        </p:nvSpPr>
        <p:spPr>
          <a:xfrm>
            <a:off x="891702" y="3862632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ES" dirty="0"/>
              <a:t>idpoint of the fragment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5D042-C8CD-27DD-02BA-17003B544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02" y="4657451"/>
            <a:ext cx="7772400" cy="1934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36CDE3-DD66-9B1A-12F4-42D84202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02" y="1726012"/>
            <a:ext cx="7772400" cy="211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9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27EB60-64EF-9EAC-FA24-756EE0342761}"/>
              </a:ext>
            </a:extLst>
          </p:cNvPr>
          <p:cNvSpPr txBox="1"/>
          <p:nvPr/>
        </p:nvSpPr>
        <p:spPr>
          <a:xfrm>
            <a:off x="2451369" y="445660"/>
            <a:ext cx="495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Pol3 eSPAN – average read enrichments at origins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A38A0-90C4-F3DE-61D8-36FBB6030F99}"/>
              </a:ext>
            </a:extLst>
          </p:cNvPr>
          <p:cNvSpPr txBox="1"/>
          <p:nvPr/>
        </p:nvSpPr>
        <p:spPr>
          <a:xfrm>
            <a:off x="891702" y="1356680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5’ end of mate1… 5’ end of the fragment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BDD2B-51C8-9600-9207-3271250410F9}"/>
              </a:ext>
            </a:extLst>
          </p:cNvPr>
          <p:cNvSpPr txBox="1"/>
          <p:nvPr/>
        </p:nvSpPr>
        <p:spPr>
          <a:xfrm>
            <a:off x="891702" y="3862632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ES" dirty="0"/>
              <a:t>idpoint of the fragment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32622-3A07-19A1-C64B-8F481290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02" y="4446481"/>
            <a:ext cx="7772400" cy="1999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70B188-1097-C23D-957C-5868B3E88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83" y="1731512"/>
            <a:ext cx="7772400" cy="191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5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50842F-7A6B-9E43-187D-BD8A8ADE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26012"/>
            <a:ext cx="7772400" cy="2321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1E5DA0-D35D-F117-E268-44B77F6CD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047298"/>
            <a:ext cx="7772400" cy="2180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7EB60-64EF-9EAC-FA24-756EE0342761}"/>
              </a:ext>
            </a:extLst>
          </p:cNvPr>
          <p:cNvSpPr txBox="1"/>
          <p:nvPr/>
        </p:nvSpPr>
        <p:spPr>
          <a:xfrm>
            <a:off x="2772383" y="630326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Pol2 eSPAN – flip in watson/crick bias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A38A0-90C4-F3DE-61D8-36FBB6030F99}"/>
              </a:ext>
            </a:extLst>
          </p:cNvPr>
          <p:cNvSpPr txBox="1"/>
          <p:nvPr/>
        </p:nvSpPr>
        <p:spPr>
          <a:xfrm>
            <a:off x="891702" y="1356680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5’ end of mate1… 5’ end of the fragment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BDD2B-51C8-9600-9207-3271250410F9}"/>
              </a:ext>
            </a:extLst>
          </p:cNvPr>
          <p:cNvSpPr txBox="1"/>
          <p:nvPr/>
        </p:nvSpPr>
        <p:spPr>
          <a:xfrm>
            <a:off x="891702" y="3862632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ES" dirty="0"/>
              <a:t>idpoint of the fragment</a:t>
            </a:r>
          </a:p>
        </p:txBody>
      </p:sp>
    </p:spTree>
    <p:extLst>
      <p:ext uri="{BB962C8B-B14F-4D97-AF65-F5344CB8AC3E}">
        <p14:creationId xmlns:p14="http://schemas.microsoft.com/office/powerpoint/2010/main" val="11642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27EB60-64EF-9EAC-FA24-756EE0342761}"/>
              </a:ext>
            </a:extLst>
          </p:cNvPr>
          <p:cNvSpPr txBox="1"/>
          <p:nvPr/>
        </p:nvSpPr>
        <p:spPr>
          <a:xfrm>
            <a:off x="2451370" y="445660"/>
            <a:ext cx="475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Pol3 eSPAN – shrink in watson/crick bias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A38A0-90C4-F3DE-61D8-36FBB6030F99}"/>
              </a:ext>
            </a:extLst>
          </p:cNvPr>
          <p:cNvSpPr txBox="1"/>
          <p:nvPr/>
        </p:nvSpPr>
        <p:spPr>
          <a:xfrm>
            <a:off x="891702" y="1356680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5’ end of mate1… 5’ end of the fragment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BDD2B-51C8-9600-9207-3271250410F9}"/>
              </a:ext>
            </a:extLst>
          </p:cNvPr>
          <p:cNvSpPr txBox="1"/>
          <p:nvPr/>
        </p:nvSpPr>
        <p:spPr>
          <a:xfrm>
            <a:off x="891702" y="3862632"/>
            <a:ext cx="451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ES" dirty="0"/>
              <a:t>idpoint of the fragment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8DB7B-40B5-6530-66D8-BB56D192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83" y="4326204"/>
            <a:ext cx="7772400" cy="2086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C33A58-E9C6-42DE-2965-D5C8DD4E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83" y="1669844"/>
            <a:ext cx="7772400" cy="209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5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EDFB24-76DC-F6AE-03AF-F4C09F51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154" y="2453269"/>
            <a:ext cx="4340114" cy="44047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61480E-25E3-5DB1-A4C9-E748E37F56DC}"/>
              </a:ext>
            </a:extLst>
          </p:cNvPr>
          <p:cNvSpPr txBox="1"/>
          <p:nvPr/>
        </p:nvSpPr>
        <p:spPr>
          <a:xfrm>
            <a:off x="389107" y="271419"/>
            <a:ext cx="79280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What is a fragment?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Illumina paired-end sequencing generates </a:t>
            </a:r>
            <a:r>
              <a:rPr lang="en-GB" b="1" dirty="0"/>
              <a:t>two reads</a:t>
            </a:r>
            <a:r>
              <a:rPr lang="en-GB" dirty="0"/>
              <a:t> (Read1 and Read2)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These two reads originate from </a:t>
            </a:r>
            <a:r>
              <a:rPr lang="en-GB" i="1" dirty="0"/>
              <a:t>opposite ends</a:t>
            </a:r>
            <a:r>
              <a:rPr lang="en-GB" dirty="0"/>
              <a:t> of </a:t>
            </a:r>
            <a:r>
              <a:rPr lang="en-GB" b="1" dirty="0"/>
              <a:t>one DNA fragment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FASTQ, you see </a:t>
            </a:r>
            <a:r>
              <a:rPr lang="en-GB" b="1" dirty="0"/>
              <a:t>reads</a:t>
            </a:r>
            <a:r>
              <a:rPr lang="en-GB" dirty="0"/>
              <a:t>, not fragments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BAM, once aligned and paired, the two reads become a </a:t>
            </a:r>
            <a:r>
              <a:rPr lang="en-GB" b="1" dirty="0"/>
              <a:t>fragment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Every fragment has: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5′ end</a:t>
            </a:r>
            <a:r>
              <a:rPr lang="en-GB" dirty="0"/>
              <a:t> on each 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start and end coordinate</a:t>
            </a:r>
            <a:r>
              <a:rPr lang="en-GB" dirty="0"/>
              <a:t> on the genome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computed fragment midpoint </a:t>
            </a:r>
          </a:p>
          <a:p>
            <a:r>
              <a:rPr lang="en-GB" b="1" dirty="0"/>
              <a:t>(</a:t>
            </a:r>
            <a:r>
              <a:rPr lang="en-GB" b="1" dirty="0" err="1"/>
              <a:t>frag_mid</a:t>
            </a:r>
            <a:r>
              <a:rPr lang="en-GB" b="1" dirty="0"/>
              <a:t>)</a:t>
            </a:r>
            <a:r>
              <a:rPr lang="en-GB" dirty="0"/>
              <a:t> = (start + end)/2</a:t>
            </a:r>
          </a:p>
        </p:txBody>
      </p:sp>
    </p:spTree>
    <p:extLst>
      <p:ext uri="{BB962C8B-B14F-4D97-AF65-F5344CB8AC3E}">
        <p14:creationId xmlns:p14="http://schemas.microsoft.com/office/powerpoint/2010/main" val="375794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98376-ED3D-8D72-3C9C-36ACEE70C066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Paired-End Sequencing Captures DNA Fragments, Not Just Reads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32226C-3A6A-7E38-8C67-7C8C2D94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857" y="2505828"/>
            <a:ext cx="4331769" cy="4357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96FD55-055E-F696-5047-06A0F10585AD}"/>
              </a:ext>
            </a:extLst>
          </p:cNvPr>
          <p:cNvSpPr txBox="1"/>
          <p:nvPr/>
        </p:nvSpPr>
        <p:spPr>
          <a:xfrm>
            <a:off x="272374" y="1186779"/>
            <a:ext cx="75583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paired-end read pair originates from </a:t>
            </a:r>
            <a:r>
              <a:rPr lang="en-GB" i="1" dirty="0"/>
              <a:t>one physical DNA fragment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fragment has: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Two 5′ ends (start of R1 and start of R2)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i="1" dirty="0"/>
              <a:t>true </a:t>
            </a:r>
            <a:r>
              <a:rPr lang="en-GB" i="1" dirty="0" err="1"/>
              <a:t>center</a:t>
            </a:r>
            <a:r>
              <a:rPr lang="en-GB" dirty="0"/>
              <a:t> (midpoint)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i="1" dirty="0"/>
              <a:t>true orientation</a:t>
            </a:r>
            <a:r>
              <a:rPr lang="en-GB" dirty="0"/>
              <a:t> dictated by the genome strand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Fragment lengths vary (100–400+ bp).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Because fragment length varies:</a:t>
            </a:r>
            <a:br>
              <a:rPr lang="en-GB" dirty="0"/>
            </a:br>
            <a:r>
              <a:rPr lang="en-GB" dirty="0"/>
              <a:t>➜ </a:t>
            </a:r>
            <a:r>
              <a:rPr lang="en-GB" b="1" dirty="0"/>
              <a:t>5′ ends shift left/right depending on length</a:t>
            </a:r>
            <a:br>
              <a:rPr lang="en-GB" dirty="0"/>
            </a:br>
            <a:r>
              <a:rPr lang="en-GB" dirty="0"/>
              <a:t>➜ </a:t>
            </a:r>
            <a:r>
              <a:rPr lang="en-GB" b="1" dirty="0"/>
              <a:t>Fragment midpoints remain centered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6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98376-ED3D-8D72-3C9C-36ACEE70C066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Why 5′ Ends Shift Asymmetrically Relative to an Origin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3D711-A596-3245-57F7-1437B3029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039" y="2334638"/>
            <a:ext cx="3993451" cy="4445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959658-50F1-321A-20AB-EB04F93E833D}"/>
              </a:ext>
            </a:extLst>
          </p:cNvPr>
          <p:cNvSpPr txBox="1"/>
          <p:nvPr/>
        </p:nvSpPr>
        <p:spPr>
          <a:xfrm>
            <a:off x="272374" y="797668"/>
            <a:ext cx="75583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Around a replication origin, DNA synthesis produces two strands:</a:t>
            </a:r>
            <a:br>
              <a:rPr lang="en-GB" dirty="0"/>
            </a:br>
            <a:r>
              <a:rPr lang="en-GB" b="1" dirty="0"/>
              <a:t>Watson (leading)</a:t>
            </a:r>
            <a:r>
              <a:rPr lang="en-GB" dirty="0"/>
              <a:t> and </a:t>
            </a:r>
            <a:r>
              <a:rPr lang="en-GB" b="1" dirty="0"/>
              <a:t>Crick (lagging)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we count </a:t>
            </a:r>
            <a:r>
              <a:rPr lang="en-GB" b="1" dirty="0"/>
              <a:t>fragment midpoints</a:t>
            </a:r>
            <a:r>
              <a:rPr lang="en-GB" dirty="0"/>
              <a:t>, Watson and Crick distributions are symmetric around the origin.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But if we count </a:t>
            </a:r>
            <a:r>
              <a:rPr lang="en-GB" b="1" dirty="0"/>
              <a:t>5′ ends</a:t>
            </a:r>
            <a:r>
              <a:rPr lang="en-GB" dirty="0"/>
              <a:t>, each fragment contributes: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One end left of the midpoint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One end right of the midpoint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distances depend on </a:t>
            </a:r>
            <a:r>
              <a:rPr lang="en-GB" b="1" dirty="0"/>
              <a:t>fragment length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Because fragment lengths vary from 100 to 400+ bp: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Short fragments place 5′ ends close to the origin.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Long fragments place 5′ ends far from the origin.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Result:</a:t>
            </a:r>
            <a:br>
              <a:rPr lang="en-GB" dirty="0"/>
            </a:br>
            <a:r>
              <a:rPr lang="en-GB" b="1" dirty="0"/>
              <a:t>5′ ends create a length-dependent left/right displacement.</a:t>
            </a:r>
            <a:br>
              <a:rPr lang="en-GB" dirty="0"/>
            </a:br>
            <a:r>
              <a:rPr lang="en-GB" dirty="0"/>
              <a:t>This displacement causes: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Apparent </a:t>
            </a:r>
            <a:r>
              <a:rPr lang="en-GB" b="1" dirty="0"/>
              <a:t>shift of Watson/Crick peaks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0000"/>
                </a:solidFill>
              </a:rPr>
              <a:t>We used mate1 5’ end for our analysis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78371-040C-466E-A585-3AC71173C00B}"/>
              </a:ext>
            </a:extLst>
          </p:cNvPr>
          <p:cNvSpPr txBox="1"/>
          <p:nvPr/>
        </p:nvSpPr>
        <p:spPr>
          <a:xfrm>
            <a:off x="78510" y="5747287"/>
            <a:ext cx="50778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Mate 1 is the first read generated from the 5′ end of the fragment that the sequencer starts with.</a:t>
            </a:r>
          </a:p>
          <a:p>
            <a:r>
              <a:rPr lang="en-GB" sz="1400" dirty="0"/>
              <a:t>It has </a:t>
            </a:r>
            <a:r>
              <a:rPr lang="en-GB" sz="1400" b="1" dirty="0"/>
              <a:t>more reliable strand information</a:t>
            </a:r>
            <a:endParaRPr lang="en-GB" sz="1400" dirty="0"/>
          </a:p>
          <a:p>
            <a:r>
              <a:rPr lang="en-GB" sz="1400" dirty="0"/>
              <a:t>It defines the fragment’s </a:t>
            </a:r>
            <a:r>
              <a:rPr lang="en-GB" sz="1400" b="1" dirty="0"/>
              <a:t>coordinate system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5410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98376-ED3D-8D72-3C9C-36ACEE70C066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5′ Ends vs. Fragment Midpoints Around Origins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59658-50F1-321A-20AB-EB04F93E833D}"/>
              </a:ext>
            </a:extLst>
          </p:cNvPr>
          <p:cNvSpPr txBox="1"/>
          <p:nvPr/>
        </p:nvSpPr>
        <p:spPr>
          <a:xfrm>
            <a:off x="272374" y="914400"/>
            <a:ext cx="75583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observation</a:t>
            </a:r>
          </a:p>
          <a:p>
            <a:r>
              <a:rPr lang="en-GB" dirty="0"/>
              <a:t>Even when using the </a:t>
            </a:r>
            <a:r>
              <a:rPr lang="en-GB" i="1" dirty="0"/>
              <a:t>same fragments</a:t>
            </a:r>
            <a:r>
              <a:rPr lang="en-GB" dirty="0"/>
              <a:t>, the two methods produce </a:t>
            </a:r>
            <a:r>
              <a:rPr lang="en-GB" b="1" dirty="0"/>
              <a:t>very different spatial profiles</a:t>
            </a:r>
            <a:r>
              <a:rPr lang="en-GB" dirty="0"/>
              <a:t> around the origin:</a:t>
            </a:r>
          </a:p>
          <a:p>
            <a:endParaRPr lang="en-GB" dirty="0"/>
          </a:p>
          <a:p>
            <a:r>
              <a:rPr lang="en-GB" b="1" dirty="0"/>
              <a:t>5′ 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Peaks are sharper and more displaced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Watson and Crick strands appear </a:t>
            </a:r>
            <a:r>
              <a:rPr lang="en-GB" b="1" dirty="0"/>
              <a:t>well separated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Orientation ratio looks stable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Fragment midpoints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Distribution becomes </a:t>
            </a:r>
            <a:r>
              <a:rPr lang="en-GB" b="1" dirty="0"/>
              <a:t>flattened / more uniform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Watson/Crick strand ratio can </a:t>
            </a:r>
            <a:r>
              <a:rPr lang="en-GB" b="1" dirty="0"/>
              <a:t>shrink or even flip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Apparent displacement of peaks reduces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A6100E-19E9-381F-E62C-FB8335A6B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2081720"/>
            <a:ext cx="4969529" cy="453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79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98376-ED3D-8D72-3C9C-36ACEE70C066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5′ Ends vs. Fragment Midpoints Around Origins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59658-50F1-321A-20AB-EB04F93E833D}"/>
              </a:ext>
            </a:extLst>
          </p:cNvPr>
          <p:cNvSpPr txBox="1"/>
          <p:nvPr/>
        </p:nvSpPr>
        <p:spPr>
          <a:xfrm>
            <a:off x="272374" y="797668"/>
            <a:ext cx="75583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b="1" dirty="0"/>
              <a:t>Why this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Midpoints “pull” long fragments toward the opposite side of the origin.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</a:t>
            </a:r>
            <a:r>
              <a:rPr lang="en-GB" b="1" dirty="0"/>
              <a:t>distorts signed distances</a:t>
            </a:r>
            <a:r>
              <a:rPr lang="en-GB" dirty="0"/>
              <a:t>, especially when fragment lengths are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artifact is strong enough to </a:t>
            </a:r>
            <a:r>
              <a:rPr lang="en-GB" b="1" dirty="0"/>
              <a:t>predict W→C shrink or flip</a:t>
            </a:r>
            <a:r>
              <a:rPr lang="en-GB" dirty="0"/>
              <a:t> in some samples.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D89D8-1A35-3E3B-A7B5-111FE6F3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26" y="2322821"/>
            <a:ext cx="4698577" cy="4379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8DF73-3095-F30D-8BFE-03EAEF8C4779}"/>
              </a:ext>
            </a:extLst>
          </p:cNvPr>
          <p:cNvSpPr txBox="1"/>
          <p:nvPr/>
        </p:nvSpPr>
        <p:spPr>
          <a:xfrm>
            <a:off x="5162203" y="2904587"/>
            <a:ext cx="44747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figure shows that even with the </a:t>
            </a:r>
            <a:r>
              <a:rPr lang="en-GB" i="1" dirty="0"/>
              <a:t>same fragments</a:t>
            </a:r>
            <a:r>
              <a:rPr lang="en-GB" dirty="0"/>
              <a:t>, just switching the measurement from 5′ ends to midpoints dramatically changes the apparent distribution around the origin.</a:t>
            </a:r>
          </a:p>
          <a:p>
            <a:br>
              <a:rPr lang="en-GB" dirty="0"/>
            </a:br>
            <a:r>
              <a:rPr lang="en-GB" dirty="0"/>
              <a:t>This is not biology — this is geometry. Midpoints of long fragments cross the origin, altering the inferred signed distance relative to the origin. That is where the Watson–Crick flip or shrink comes from.</a:t>
            </a:r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1224574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98376-ED3D-8D72-3C9C-36ACEE70C066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How fragment length + origin proximity distort strand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E4833-88ED-7F4F-56C3-EE40A74E9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867" y="1673156"/>
            <a:ext cx="4861637" cy="46109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D02A72-3B4C-1DB4-641A-E4DC89DB4DBD}"/>
              </a:ext>
            </a:extLst>
          </p:cNvPr>
          <p:cNvSpPr txBox="1"/>
          <p:nvPr/>
        </p:nvSpPr>
        <p:spPr>
          <a:xfrm>
            <a:off x="466928" y="806438"/>
            <a:ext cx="448607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When a fragment spans across the origin window, the midpoint may fall on the </a:t>
            </a:r>
            <a:r>
              <a:rPr lang="en-GB" i="1" dirty="0"/>
              <a:t>opposite</a:t>
            </a:r>
            <a:r>
              <a:rPr lang="en-GB" dirty="0"/>
              <a:t> side of the origin from the 5′ end.</a:t>
            </a:r>
          </a:p>
          <a:p>
            <a:br>
              <a:rPr lang="en-GB" dirty="0"/>
            </a:br>
            <a:r>
              <a:rPr lang="en-GB" dirty="0"/>
              <a:t>Because strand assignment is based on the sign (left/right), </a:t>
            </a:r>
            <a:r>
              <a:rPr lang="en-GB" b="1" dirty="0"/>
              <a:t>long fragments are more likely to cross the origin</a:t>
            </a:r>
            <a:r>
              <a:rPr lang="en-GB" dirty="0"/>
              <a:t> → causing: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Bias pattern “shrink”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Bias pattern “flip”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extent of shrink/flip depends on the </a:t>
            </a:r>
            <a:r>
              <a:rPr lang="en-GB" b="1" dirty="0"/>
              <a:t>fragment length distribution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b="1" dirty="0"/>
          </a:p>
          <a:p>
            <a:r>
              <a:rPr lang="en-GB" b="1" dirty="0"/>
              <a:t>The effect depends on fragment length: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Short fragments → </a:t>
            </a:r>
          </a:p>
          <a:p>
            <a:r>
              <a:rPr lang="en-GB" dirty="0"/>
              <a:t>midpoint ≈ 5′ end → minimal distortion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Long fragments → </a:t>
            </a:r>
          </a:p>
          <a:p>
            <a:r>
              <a:rPr lang="en-GB" dirty="0"/>
              <a:t>midpoint shifts left/right → increasing chance of crossing origin</a:t>
            </a:r>
          </a:p>
        </p:txBody>
      </p:sp>
    </p:spTree>
    <p:extLst>
      <p:ext uri="{BB962C8B-B14F-4D97-AF65-F5344CB8AC3E}">
        <p14:creationId xmlns:p14="http://schemas.microsoft.com/office/powerpoint/2010/main" val="3860742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27EB60-64EF-9EAC-FA24-756EE0342761}"/>
              </a:ext>
            </a:extLst>
          </p:cNvPr>
          <p:cNvSpPr txBox="1"/>
          <p:nvPr/>
        </p:nvSpPr>
        <p:spPr>
          <a:xfrm>
            <a:off x="2286004" y="144099"/>
            <a:ext cx="531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b="1" dirty="0"/>
              <a:t>A simple model to</a:t>
            </a:r>
            <a:r>
              <a:rPr lang="en-GB" b="1" dirty="0"/>
              <a:t> Quantify Strand “Flip” vs “Normal”</a:t>
            </a:r>
            <a:endParaRPr lang="en-E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4C4-0189-C593-D536-969C478AAEB3}"/>
              </a:ext>
            </a:extLst>
          </p:cNvPr>
          <p:cNvSpPr txBox="1"/>
          <p:nvPr/>
        </p:nvSpPr>
        <p:spPr>
          <a:xfrm>
            <a:off x="308852" y="620438"/>
            <a:ext cx="69674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What we do: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Take each mapped fragment</a:t>
            </a:r>
            <a:br>
              <a:rPr lang="en-GB" dirty="0"/>
            </a:br>
            <a:r>
              <a:rPr lang="en-GB" dirty="0"/>
              <a:t>– Use its 5′ end and fragment length to compute the midpoint.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Measure distance to the nearest origin</a:t>
            </a:r>
            <a:br>
              <a:rPr lang="en-GB" dirty="0"/>
            </a:br>
            <a:r>
              <a:rPr lang="en-GB" dirty="0"/>
              <a:t>– If midpoint is left of origin → expected “+” strand</a:t>
            </a:r>
            <a:br>
              <a:rPr lang="en-GB" dirty="0"/>
            </a:br>
            <a:r>
              <a:rPr lang="en-GB" dirty="0"/>
              <a:t>– If midpoint is right of origin → expected “–” strand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Compare expected vs observed</a:t>
            </a:r>
            <a:br>
              <a:rPr lang="en-GB" dirty="0"/>
            </a:br>
            <a:r>
              <a:rPr lang="en-GB" dirty="0"/>
              <a:t>– Count how many fragments match the </a:t>
            </a:r>
            <a:br>
              <a:rPr lang="en-GB" dirty="0"/>
            </a:br>
            <a:r>
              <a:rPr lang="en-GB" dirty="0"/>
              <a:t>expected orientation (“normal”)</a:t>
            </a:r>
            <a:br>
              <a:rPr lang="en-GB" dirty="0"/>
            </a:br>
            <a:r>
              <a:rPr lang="en-GB" dirty="0"/>
              <a:t>– Count how many match the opposite (“flipped”)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Compute two numbers: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Normal-match rate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Flipped-match rate</a:t>
            </a:r>
          </a:p>
          <a:p>
            <a:r>
              <a:rPr lang="en-GB" dirty="0"/>
              <a:t>These two values are what we report — for example:</a:t>
            </a:r>
            <a:br>
              <a:rPr lang="en-GB" dirty="0"/>
            </a:br>
            <a:r>
              <a:rPr lang="en-GB" b="1" dirty="0"/>
              <a:t>Pol2: 43% normal / 57% flipped</a:t>
            </a:r>
          </a:p>
          <a:p>
            <a:r>
              <a:rPr lang="en-GB" b="1" dirty="0"/>
              <a:t>Pol3: 59% normal / 41% flipped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DE0944-E4C4-B6C7-3C5E-6CBED097F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696" y="1466877"/>
            <a:ext cx="3954107" cy="4221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C2E250-F7E6-A639-F049-6B30E2087738}"/>
              </a:ext>
            </a:extLst>
          </p:cNvPr>
          <p:cNvSpPr txBox="1"/>
          <p:nvPr/>
        </p:nvSpPr>
        <p:spPr>
          <a:xfrm>
            <a:off x="4795736" y="5934670"/>
            <a:ext cx="51199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Monte-Carlo Simulation</a:t>
            </a:r>
            <a:r>
              <a:rPr lang="en-GB" sz="1400" dirty="0"/>
              <a:t>: We repeat the calculation many times using </a:t>
            </a:r>
            <a:r>
              <a:rPr lang="en-GB" sz="1400" i="1" dirty="0"/>
              <a:t>randomly resampled fragment lengths</a:t>
            </a:r>
            <a:r>
              <a:rPr lang="en-GB" sz="1400" dirty="0"/>
              <a:t> to estimate whether the observed flip/normal bias is stronger than expected by chance.</a:t>
            </a:r>
            <a:endParaRPr lang="en-E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8782A-E3A2-03F0-6AEA-C2886E5AF235}"/>
              </a:ext>
            </a:extLst>
          </p:cNvPr>
          <p:cNvSpPr txBox="1"/>
          <p:nvPr/>
        </p:nvSpPr>
        <p:spPr>
          <a:xfrm>
            <a:off x="226216" y="5251760"/>
            <a:ext cx="44430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Flip fraction &lt; 0.5</a:t>
            </a:r>
            <a:br>
              <a:rPr lang="en-GB" sz="1600" dirty="0"/>
            </a:br>
            <a:r>
              <a:rPr lang="en-GB" sz="1600" dirty="0"/>
              <a:t>→ Most fragments keep the same strand assignment</a:t>
            </a:r>
          </a:p>
          <a:p>
            <a:r>
              <a:rPr lang="en-GB" sz="1600" b="1" dirty="0"/>
              <a:t>Flip fraction &gt; 0.5</a:t>
            </a:r>
            <a:br>
              <a:rPr lang="en-GB" sz="1600" dirty="0"/>
            </a:br>
            <a:r>
              <a:rPr lang="en-GB" sz="1600" dirty="0"/>
              <a:t>→ More than half of fragments change sides</a:t>
            </a:r>
            <a:endParaRPr lang="en-ES" sz="1600" dirty="0"/>
          </a:p>
        </p:txBody>
      </p:sp>
    </p:spTree>
    <p:extLst>
      <p:ext uri="{BB962C8B-B14F-4D97-AF65-F5344CB8AC3E}">
        <p14:creationId xmlns:p14="http://schemas.microsoft.com/office/powerpoint/2010/main" val="994019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1C532-B4EE-8911-197F-96018EEB1031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Possible reason why Pol2 Flips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DFFE0-B67D-CE53-9431-3AF6420CA573}"/>
              </a:ext>
            </a:extLst>
          </p:cNvPr>
          <p:cNvSpPr txBox="1"/>
          <p:nvPr/>
        </p:nvSpPr>
        <p:spPr>
          <a:xfrm>
            <a:off x="466927" y="806438"/>
            <a:ext cx="68482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biological point</a:t>
            </a:r>
          </a:p>
          <a:p>
            <a:r>
              <a:rPr lang="en-GB" dirty="0"/>
              <a:t>Pol2 travels with the leading strand.</a:t>
            </a:r>
          </a:p>
          <a:p>
            <a:r>
              <a:rPr lang="en-GB" b="1" dirty="0"/>
              <a:t>Key geometric point</a:t>
            </a:r>
          </a:p>
          <a:p>
            <a:r>
              <a:rPr lang="en-GB" dirty="0"/>
              <a:t>Leading-strand fragments tend to be longer.</a:t>
            </a:r>
            <a:br>
              <a:rPr lang="en-GB" dirty="0"/>
            </a:br>
            <a:r>
              <a:rPr lang="en-GB" dirty="0"/>
              <a:t>Longer fragments place their midpoints farther from their 5′ ends,</a:t>
            </a:r>
            <a:br>
              <a:rPr lang="en-GB" dirty="0"/>
            </a:br>
            <a:r>
              <a:rPr lang="en-GB" dirty="0"/>
              <a:t>so midpoints more often cross the origin </a:t>
            </a:r>
            <a:r>
              <a:rPr lang="en-GB" dirty="0" err="1"/>
              <a:t>center</a:t>
            </a:r>
            <a:r>
              <a:rPr lang="en-GB" dirty="0"/>
              <a:t>.</a:t>
            </a:r>
          </a:p>
          <a:p>
            <a:r>
              <a:rPr lang="en-GB" b="1" dirty="0"/>
              <a:t>Result in our data</a:t>
            </a:r>
          </a:p>
          <a:p>
            <a:r>
              <a:rPr lang="en-GB" dirty="0"/>
              <a:t>With midpoint classification:</a:t>
            </a:r>
            <a:br>
              <a:rPr lang="en-GB" dirty="0"/>
            </a:br>
            <a:r>
              <a:rPr lang="en-GB" dirty="0"/>
              <a:t>Pol2 shows a higher flipped-match rate than normal-match</a:t>
            </a:r>
            <a:br>
              <a:rPr lang="en-GB" dirty="0"/>
            </a:br>
            <a:r>
              <a:rPr lang="en-GB" dirty="0"/>
              <a:t>(</a:t>
            </a:r>
            <a:r>
              <a:rPr lang="en-GB" b="1" dirty="0">
                <a:solidFill>
                  <a:srgbClr val="FF0000"/>
                </a:solidFill>
              </a:rPr>
              <a:t>≈0.57 flipped vs ≈0.43 normal</a:t>
            </a:r>
            <a:r>
              <a:rPr lang="en-GB" dirty="0"/>
              <a:t>).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Because Pol2 preferentially marks leading-strand DNA,</a:t>
            </a:r>
            <a:br>
              <a:rPr lang="en-GB" dirty="0"/>
            </a:br>
            <a:r>
              <a:rPr lang="en-GB" dirty="0"/>
              <a:t>and leading-strand fragments are longer,</a:t>
            </a:r>
            <a:br>
              <a:rPr lang="en-GB" dirty="0"/>
            </a:br>
            <a:r>
              <a:rPr lang="en-GB" dirty="0"/>
              <a:t>their midpoints shift across the origin boundary more frequently.</a:t>
            </a:r>
            <a:br>
              <a:rPr lang="en-GB" dirty="0"/>
            </a:br>
            <a:r>
              <a:rPr lang="en-GB" dirty="0"/>
              <a:t>This produces an apparent Watson/Crick flip when using midpoints.</a:t>
            </a:r>
          </a:p>
          <a:p>
            <a:r>
              <a:rPr lang="en-GB" b="1" dirty="0"/>
              <a:t>Takeaway</a:t>
            </a:r>
          </a:p>
          <a:p>
            <a:r>
              <a:rPr lang="en-GB" dirty="0"/>
              <a:t>Pol2 flips because leading-strand fragments are longer,</a:t>
            </a:r>
            <a:br>
              <a:rPr lang="en-GB" dirty="0"/>
            </a:br>
            <a:r>
              <a:rPr lang="en-GB" dirty="0"/>
              <a:t>and midpoint-based assignment exaggerates this bias.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B4FEC-77AE-AA2D-BE3D-25C912B177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550"/>
          <a:stretch/>
        </p:blipFill>
        <p:spPr>
          <a:xfrm>
            <a:off x="6903396" y="1024308"/>
            <a:ext cx="2055779" cy="2321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2B4C65-0018-D7DB-F888-9B49A4D67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3550"/>
          <a:stretch/>
        </p:blipFill>
        <p:spPr>
          <a:xfrm>
            <a:off x="6903396" y="3488631"/>
            <a:ext cx="2055779" cy="218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22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1C532-B4EE-8911-197F-96018EEB1031}"/>
              </a:ext>
            </a:extLst>
          </p:cNvPr>
          <p:cNvSpPr txBox="1"/>
          <p:nvPr/>
        </p:nvSpPr>
        <p:spPr>
          <a:xfrm>
            <a:off x="272374" y="238885"/>
            <a:ext cx="88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Possible reason why Pol3 Shrinks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DFFE0-B67D-CE53-9431-3AF6420CA573}"/>
              </a:ext>
            </a:extLst>
          </p:cNvPr>
          <p:cNvSpPr txBox="1"/>
          <p:nvPr/>
        </p:nvSpPr>
        <p:spPr>
          <a:xfrm>
            <a:off x="466927" y="806438"/>
            <a:ext cx="684827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biological point</a:t>
            </a:r>
          </a:p>
          <a:p>
            <a:r>
              <a:rPr lang="en-GB" dirty="0"/>
              <a:t>Pol3 tracks lagging-strand synthesis, which produces many short Okazaki fragments</a:t>
            </a:r>
          </a:p>
          <a:p>
            <a:r>
              <a:rPr lang="en-GB" b="1" dirty="0"/>
              <a:t>Key geometric point</a:t>
            </a:r>
          </a:p>
          <a:p>
            <a:r>
              <a:rPr lang="en-GB" dirty="0"/>
              <a:t>Lagging-strand fragments tend to be shorter.</a:t>
            </a:r>
            <a:br>
              <a:rPr lang="en-GB" dirty="0"/>
            </a:br>
            <a:r>
              <a:rPr lang="en-GB" dirty="0"/>
              <a:t>Shorter fragments place their midpoints closer to their 5′ ends,</a:t>
            </a:r>
            <a:br>
              <a:rPr lang="en-GB" dirty="0"/>
            </a:br>
            <a:r>
              <a:rPr lang="en-GB" dirty="0"/>
              <a:t>so midpoints are less likely to cross the origin </a:t>
            </a:r>
            <a:r>
              <a:rPr lang="en-GB" dirty="0" err="1"/>
              <a:t>center</a:t>
            </a:r>
            <a:r>
              <a:rPr lang="en-GB" dirty="0"/>
              <a:t>.</a:t>
            </a:r>
          </a:p>
          <a:p>
            <a:r>
              <a:rPr lang="en-GB" b="1" dirty="0"/>
              <a:t>Result in our data</a:t>
            </a:r>
          </a:p>
          <a:p>
            <a:r>
              <a:rPr lang="en-GB" dirty="0"/>
              <a:t>Using midpoint classification, Pol3 shows</a:t>
            </a:r>
            <a:br>
              <a:rPr lang="en-GB" dirty="0"/>
            </a:br>
            <a:r>
              <a:rPr lang="en-GB" b="1" dirty="0">
                <a:solidFill>
                  <a:srgbClr val="FF0000"/>
                </a:solidFill>
              </a:rPr>
              <a:t>~0.59 normal-match vs ~0.41 flipped-match</a:t>
            </a:r>
            <a:br>
              <a:rPr lang="en-GB" dirty="0"/>
            </a:br>
            <a:r>
              <a:rPr lang="en-GB" dirty="0"/>
              <a:t>→ a shrink toward 0.5, not an inversion.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Because Pol3 marks primarily short lagging-strand fragments,</a:t>
            </a:r>
            <a:br>
              <a:rPr lang="en-GB" dirty="0"/>
            </a:br>
            <a:r>
              <a:rPr lang="en-GB" dirty="0"/>
              <a:t>their midpoints shift very little relative to the origin.</a:t>
            </a:r>
            <a:br>
              <a:rPr lang="en-GB" dirty="0"/>
            </a:br>
            <a:r>
              <a:rPr lang="en-GB" dirty="0"/>
              <a:t>This reduces Watson/Crick asymmetry but does not reverse it.</a:t>
            </a:r>
          </a:p>
          <a:p>
            <a:r>
              <a:rPr lang="en-GB" b="1" dirty="0"/>
              <a:t>Takeaway</a:t>
            </a:r>
          </a:p>
          <a:p>
            <a:r>
              <a:rPr lang="en-GB" dirty="0"/>
              <a:t>Pol3 shrinks because its fragments are short,</a:t>
            </a:r>
            <a:br>
              <a:rPr lang="en-GB" dirty="0"/>
            </a:br>
            <a:r>
              <a:rPr lang="en-GB" dirty="0"/>
              <a:t>and midpoint-based assignment compresses the strand imbalance</a:t>
            </a:r>
            <a:br>
              <a:rPr lang="en-GB" dirty="0"/>
            </a:br>
            <a:r>
              <a:rPr lang="en-GB" dirty="0"/>
              <a:t>without producing a flip.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6A84D-E5AC-8306-EC82-D9D2B73399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468"/>
          <a:stretch/>
        </p:blipFill>
        <p:spPr>
          <a:xfrm>
            <a:off x="6867728" y="3572104"/>
            <a:ext cx="1984443" cy="20861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AC2082-3BA7-97B6-0EDF-98A546EEAA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68"/>
          <a:stretch/>
        </p:blipFill>
        <p:spPr>
          <a:xfrm>
            <a:off x="6867728" y="1247046"/>
            <a:ext cx="1984443" cy="209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61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1C532-B4EE-8911-197F-96018EEB1031}"/>
              </a:ext>
            </a:extLst>
          </p:cNvPr>
          <p:cNvSpPr txBox="1"/>
          <p:nvPr/>
        </p:nvSpPr>
        <p:spPr>
          <a:xfrm>
            <a:off x="546370" y="234585"/>
            <a:ext cx="2959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Rev1-Myc-0422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145567-0B48-89A8-67DC-1575120FD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30"/>
          <a:stretch/>
        </p:blipFill>
        <p:spPr>
          <a:xfrm>
            <a:off x="660940" y="4408690"/>
            <a:ext cx="2781300" cy="2302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0E21E4-C09D-2802-3EE3-1FCE4CC319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095"/>
          <a:stretch/>
        </p:blipFill>
        <p:spPr>
          <a:xfrm>
            <a:off x="660940" y="1529276"/>
            <a:ext cx="2844800" cy="25605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D37505-A664-E580-6AD9-627CB3FCDF02}"/>
              </a:ext>
            </a:extLst>
          </p:cNvPr>
          <p:cNvSpPr txBox="1"/>
          <p:nvPr/>
        </p:nvSpPr>
        <p:spPr>
          <a:xfrm>
            <a:off x="142673" y="1453164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5’ end of the fragment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7713B-3801-A6A0-019D-7E53BBCC9D07}"/>
              </a:ext>
            </a:extLst>
          </p:cNvPr>
          <p:cNvSpPr txBox="1"/>
          <p:nvPr/>
        </p:nvSpPr>
        <p:spPr>
          <a:xfrm>
            <a:off x="142673" y="4039358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Midpoint of the fragment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3835B-C6A6-0B59-3F5C-27F4BAF421C0}"/>
              </a:ext>
            </a:extLst>
          </p:cNvPr>
          <p:cNvSpPr txBox="1"/>
          <p:nvPr/>
        </p:nvSpPr>
        <p:spPr>
          <a:xfrm>
            <a:off x="399239" y="928097"/>
            <a:ext cx="3368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Rev1: 45% normal / 55% flipped</a:t>
            </a:r>
            <a:endParaRPr lang="en-E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D69559-8DCD-549A-B428-70776870D4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995"/>
          <a:stretch/>
        </p:blipFill>
        <p:spPr>
          <a:xfrm>
            <a:off x="5663930" y="1616637"/>
            <a:ext cx="2819400" cy="2385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A63798-4D28-F372-7D3C-5B84AD70BC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460"/>
          <a:stretch/>
        </p:blipFill>
        <p:spPr>
          <a:xfrm>
            <a:off x="5714730" y="4408689"/>
            <a:ext cx="2717800" cy="2302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0439EC-2827-EDA2-7218-EE82A39311E4}"/>
              </a:ext>
            </a:extLst>
          </p:cNvPr>
          <p:cNvSpPr txBox="1"/>
          <p:nvPr/>
        </p:nvSpPr>
        <p:spPr>
          <a:xfrm>
            <a:off x="5922523" y="234585"/>
            <a:ext cx="2959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Rfa1-0924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1D04E-08EC-91C4-3084-35544497A9B5}"/>
              </a:ext>
            </a:extLst>
          </p:cNvPr>
          <p:cNvSpPr txBox="1"/>
          <p:nvPr/>
        </p:nvSpPr>
        <p:spPr>
          <a:xfrm>
            <a:off x="5775392" y="928097"/>
            <a:ext cx="3368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Rfa1: 49% normal / 51% flipped</a:t>
            </a:r>
            <a:endParaRPr lang="en-E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6203B3-28C2-87A9-77ED-EC11C6F33B03}"/>
              </a:ext>
            </a:extLst>
          </p:cNvPr>
          <p:cNvSpPr txBox="1"/>
          <p:nvPr/>
        </p:nvSpPr>
        <p:spPr>
          <a:xfrm>
            <a:off x="6982029" y="1453164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ES" dirty="0"/>
              <a:t>5’ end of the fragment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3A6AF8-045C-EEFF-AA1C-6E44090D9203}"/>
              </a:ext>
            </a:extLst>
          </p:cNvPr>
          <p:cNvSpPr txBox="1"/>
          <p:nvPr/>
        </p:nvSpPr>
        <p:spPr>
          <a:xfrm>
            <a:off x="6982029" y="4039358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ES" dirty="0"/>
              <a:t>Midpoint of the fragment</a:t>
            </a:r>
          </a:p>
        </p:txBody>
      </p:sp>
    </p:spTree>
    <p:extLst>
      <p:ext uri="{BB962C8B-B14F-4D97-AF65-F5344CB8AC3E}">
        <p14:creationId xmlns:p14="http://schemas.microsoft.com/office/powerpoint/2010/main" val="180803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E2EE92-71DB-8B2F-3A4C-08099AE34BE0}"/>
              </a:ext>
            </a:extLst>
          </p:cNvPr>
          <p:cNvSpPr txBox="1"/>
          <p:nvPr/>
        </p:nvSpPr>
        <p:spPr>
          <a:xfrm>
            <a:off x="3381983" y="3136612"/>
            <a:ext cx="3142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3200" b="1" dirty="0"/>
              <a:t>Thanks…</a:t>
            </a:r>
          </a:p>
        </p:txBody>
      </p:sp>
    </p:spTree>
    <p:extLst>
      <p:ext uri="{BB962C8B-B14F-4D97-AF65-F5344CB8AC3E}">
        <p14:creationId xmlns:p14="http://schemas.microsoft.com/office/powerpoint/2010/main" val="3005743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</TotalTime>
  <Words>1283</Words>
  <Application>Microsoft Macintosh PowerPoint</Application>
  <PresentationFormat>A4 Paper (210x297 mm)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17</cp:revision>
  <dcterms:created xsi:type="dcterms:W3CDTF">2025-11-20T20:31:32Z</dcterms:created>
  <dcterms:modified xsi:type="dcterms:W3CDTF">2025-11-21T06:38:47Z</dcterms:modified>
</cp:coreProperties>
</file>